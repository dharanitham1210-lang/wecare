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10" Type="http://schemas.openxmlformats.org/officeDocument/2006/relationships/image" Target="../media/image-8-1.jpeg"/><Relationship Id="rId11" Type="http://schemas.openxmlformats.org/officeDocument/2006/relationships/image" Target="../media/image-8-2.jpeg"/><Relationship Id="rId12" Type="http://schemas.openxmlformats.org/officeDocument/2006/relationships/image" Target="../media/image-8-3.jpeg"/><Relationship Id="rId13" Type="http://schemas.openxmlformats.org/officeDocument/2006/relationships/image" Target="../media/image-8-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09728"/>
            <a:ext cx="1280160" cy="7589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·  Fusion for Future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02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Hackathon  ·  Saveetha Engineering College (Autonomous)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645920"/>
            <a:ext cx="3200400" cy="3200400"/>
          </a:xfrm>
          <a:prstGeom prst="ellipse">
            <a:avLst/>
          </a:prstGeom>
          <a:solidFill>
            <a:srgbClr val="2E5F8A"/>
          </a:solidFill>
          <a:ln w="25400">
            <a:solidFill>
              <a:srgbClr val="1B6C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2103120"/>
            <a:ext cx="2286000" cy="2286000"/>
          </a:xfrm>
          <a:prstGeom prst="ellipse">
            <a:avLst/>
          </a:prstGeom>
          <a:solidFill>
            <a:srgbClr val="0D2B55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🧠</a:t>
            </a:r>
            <a:endParaRPr lang="en-US" sz="6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3716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Stage-Adaptive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965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 for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5146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  ·  Adaptive Care Policy Engine  ·  India-Ready Privacy-First Solution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3977640"/>
            <a:ext cx="914400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57M+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(WHO)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60604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$1.3T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Economic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(2019)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0/7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Unsolved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5349240"/>
            <a:ext cx="9144000" cy="1508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Solution Submission — MEGATHON'26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Healthcare AI &amp; Social Impact  ·  Problem Statement: PS 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236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Saveetha Engineering College (Autonomous)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132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Team &amp; Problem Overview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· Final Submission · Saveetha Engineering College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554480"/>
            <a:ext cx="40233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554480"/>
            <a:ext cx="4023360" cy="36576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15727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688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ID]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602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 — Voice-First, Stage-Adaptive AI Companion for Dementia Patients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Category: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&amp; Social Impact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663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919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[github.com/your-repo]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321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Link: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577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[your-demo-link.com]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1554480"/>
            <a:ext cx="4251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1554480"/>
            <a:ext cx="4251960" cy="365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63440" y="157276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2103120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709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25780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Name]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257800" y="2322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AI &amp; Backend Developer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09160" y="2779776"/>
            <a:ext cx="3977640" cy="9144"/>
          </a:xfrm>
          <a:prstGeom prst="rect">
            <a:avLst/>
          </a:prstGeom>
          <a:solidFill>
            <a:srgbClr val="D0DFF0"/>
          </a:solidFill>
          <a:ln/>
        </p:spPr>
      </p:sp>
      <p:sp>
        <p:nvSpPr>
          <p:cNvPr id="32" name="Shape 29"/>
          <p:cNvSpPr/>
          <p:nvPr/>
        </p:nvSpPr>
        <p:spPr>
          <a:xfrm>
            <a:off x="4709160" y="3127248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7091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257800" y="3054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 Name]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257800" y="3346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/ UX Designer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09160" y="3803904"/>
            <a:ext cx="3977640" cy="9144"/>
          </a:xfrm>
          <a:prstGeom prst="rect">
            <a:avLst/>
          </a:prstGeom>
          <a:solidFill>
            <a:srgbClr val="D0DFF0"/>
          </a:solidFill>
          <a:ln/>
        </p:spPr>
      </p:sp>
      <p:sp>
        <p:nvSpPr>
          <p:cNvPr id="37" name="Shape 34"/>
          <p:cNvSpPr/>
          <p:nvPr/>
        </p:nvSpPr>
        <p:spPr>
          <a:xfrm>
            <a:off x="4709160" y="4151376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7091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4078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 Name]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257800" y="4370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/ Distress Detection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709160" y="4828032"/>
            <a:ext cx="3977640" cy="9144"/>
          </a:xfrm>
          <a:prstGeom prst="rect">
            <a:avLst/>
          </a:prstGeom>
          <a:solidFill>
            <a:srgbClr val="D0DFF0"/>
          </a:solidFill>
          <a:ln/>
        </p:spPr>
      </p:sp>
      <p:sp>
        <p:nvSpPr>
          <p:cNvPr id="42" name="Shape 39"/>
          <p:cNvSpPr/>
          <p:nvPr/>
        </p:nvSpPr>
        <p:spPr>
          <a:xfrm>
            <a:off x="4709160" y="5175504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70916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5257800" y="5102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 Name]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2578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/ Memory Architecture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709160" y="5852160"/>
            <a:ext cx="3977640" cy="9144"/>
          </a:xfrm>
          <a:prstGeom prst="rect">
            <a:avLst/>
          </a:prstGeom>
          <a:solidFill>
            <a:srgbClr val="D0DFF0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132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Understanding &amp; Proposed Solution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AI fails — and what we build instead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554480"/>
            <a:ext cx="40233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554480"/>
            <a:ext cx="40233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Million People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231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dementia globally (WHO, 2026) — 60%+ in low/middle-income countries.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" y="26700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 Trillion Cost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economic burden. ~50% from informal caregivers bearing enormous stress.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" y="33649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&amp; Distress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ask the same question 20–40× daily. Generic AI gives new answers each time — causing confusion.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" y="4059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059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Sundowning (6–9 PM)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Agitation spikes at dusk. AI must detect and respond — not continue chatting normally.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84048" y="47548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754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&amp; Delusions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010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never confirm false beliefs. Validating emotion without reinforcing delusion is clinically critical.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" y="54498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449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Adaptation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705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competitors lack a full stage-adaptive interaction policy with delusion-safe guardrails.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0" y="1554480"/>
            <a:ext cx="4251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0" y="1554480"/>
            <a:ext cx="425196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63440" y="15727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SOLUTION: ADAPTIVE CARE POLICY ENGINE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645152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0" y="1975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Stage-Adaptive Policy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0" y="22311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configures Early/Mid/Late-stage profile. AI adjusts sentence length, pacing, question-type per stage — dynamically.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645152" y="26700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0" y="26700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Intelligence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029200" y="29260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repeated-question loops. Selects reassure / validate / redirect strategy while maintaining emotional consistency across 20+ repeats.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645152" y="33649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0" y="3364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Delusion-Safe Guardrail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0" y="362102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see this frightens you. I am here with you." — validates emotion, never confirms harmful false beliefs. Follows NIA &amp; Alz. Society guidance.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645152" y="4059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0" y="40599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Risk Scoring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029200" y="4315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 model using time-of-day, voice prosody, sentiment &amp; repetition count. Triggers caregiver alert automatically.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645152" y="47548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029200" y="4754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Family Memory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029200" y="50109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Personal Memory Architecture — every fact has source, confidence &amp; approval. LLM cannot invent biography.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645152" y="54498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29200" y="54498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29200" y="57058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state triggers caregiver alert with reason + transcript snippet. AI de-escalates; human takes over.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498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Solution Architecture &amp; Technology Stack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371600"/>
            <a:ext cx="1371600" cy="640080"/>
          </a:xfrm>
          <a:prstGeom prst="rect">
            <a:avLst/>
          </a:prstGeom>
          <a:solidFill>
            <a:srgbClr val="2E5F8A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1371600"/>
            <a:ext cx="1463040" cy="640080"/>
          </a:xfrm>
          <a:prstGeom prst="rect">
            <a:avLst/>
          </a:prstGeom>
          <a:solidFill>
            <a:srgbClr val="2E5F8A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7452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 / STT)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1371600"/>
            <a:ext cx="1600200" cy="640080"/>
          </a:xfrm>
          <a:prstGeom prst="rect">
            <a:avLst/>
          </a:prstGeom>
          <a:solidFill>
            <a:srgbClr val="1B6CA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Detector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49240" y="1371600"/>
            <a:ext cx="1554480" cy="640080"/>
          </a:xfrm>
          <a:prstGeom prst="rect">
            <a:avLst/>
          </a:prstGeom>
          <a:solidFill>
            <a:srgbClr val="1B6CA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/ Prosody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0" y="1371600"/>
            <a:ext cx="1783080" cy="640080"/>
          </a:xfrm>
          <a:prstGeom prst="rect">
            <a:avLst/>
          </a:prstGeom>
          <a:solidFill>
            <a:srgbClr val="2E5F8A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78040" y="1417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🟢🟡🔴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600200" y="1655064"/>
            <a:ext cx="2286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673352" y="16184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337560" y="1655064"/>
            <a:ext cx="2286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10712" y="16184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166360" y="1655064"/>
            <a:ext cx="2286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239512" y="16184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949440" y="1655064"/>
            <a:ext cx="2286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022592" y="16184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020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160520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28600" y="2313432"/>
            <a:ext cx="6720840" cy="713232"/>
          </a:xfrm>
          <a:prstGeom prst="rect">
            <a:avLst/>
          </a:prstGeom>
          <a:solidFill>
            <a:srgbClr val="0D2B55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0040" y="2359152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ADAPTIVE CARE POLICY ENGINE  (Core Innovation)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20040" y="263347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Profile  ·  Repetition Strategy  ·  Delusion-Safe Guardrail  ·  Distress Routing  ·  Memory Verification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32320" y="2313432"/>
            <a:ext cx="17830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7804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Caregiver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Handoff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28600" y="3319272"/>
            <a:ext cx="1920240" cy="749808"/>
          </a:xfrm>
          <a:prstGeom prst="rect">
            <a:avLst/>
          </a:prstGeom>
          <a:solidFill>
            <a:srgbClr val="1B6CA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74320" y="33832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(Verified Biography)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2221992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377440" y="3319272"/>
            <a:ext cx="2103120" cy="749808"/>
          </a:xfrm>
          <a:prstGeom prst="rect">
            <a:avLst/>
          </a:prstGeom>
          <a:solidFill>
            <a:srgbClr val="2E5F8A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423160" y="33832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(Constrained 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Stage + Facts)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553712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09160" y="3319272"/>
            <a:ext cx="2011680" cy="749808"/>
          </a:xfrm>
          <a:prstGeom prst="rect">
            <a:avLst/>
          </a:prstGeom>
          <a:solidFill>
            <a:srgbClr val="2E5F8A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54880" y="33832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(Slow, Clear Voice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Rate)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793992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949440" y="3319272"/>
            <a:ext cx="1965960" cy="749808"/>
          </a:xfrm>
          <a:prstGeom prst="rect">
            <a:avLst/>
          </a:prstGeom>
          <a:solidFill>
            <a:srgbClr val="1B6CA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95160" y="338328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(Voice Output)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28600" y="4178808"/>
            <a:ext cx="86868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20040" y="419709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Memory Retrieval (Vector Search + Metadata Filters)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228600" y="45354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28600" y="4846320"/>
            <a:ext cx="2057400" cy="1783080"/>
          </a:xfrm>
          <a:prstGeom prst="rect">
            <a:avLst/>
          </a:prstGeom>
          <a:solidFill>
            <a:srgbClr val="0D2B55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28600" y="4846320"/>
            <a:ext cx="20574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74320" y="4855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292608" y="51663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· Sentence Transformers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Text Classifier (Repetition)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 API (LLM)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Feature Extraction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2423160" y="4846320"/>
            <a:ext cx="2057400" cy="1783080"/>
          </a:xfrm>
          <a:prstGeom prst="rect">
            <a:avLst/>
          </a:prstGeom>
          <a:solidFill>
            <a:srgbClr val="0D2B55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423160" y="4846320"/>
            <a:ext cx="20574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468880" y="4855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2487168" y="51663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(Pinecone / Weaviate)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(Memory + Consent Logs)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(Session State)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617720" y="4846320"/>
            <a:ext cx="2057400" cy="1783080"/>
          </a:xfrm>
          <a:prstGeom prst="rect">
            <a:avLst/>
          </a:prstGeom>
          <a:solidFill>
            <a:srgbClr val="0D2B55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617720" y="4846320"/>
            <a:ext cx="20574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663440" y="4855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4681728" y="51663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(Patient Voice UI)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(Caregiver Dashboard)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(Expo)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Demo Link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6812280" y="4846320"/>
            <a:ext cx="2057400" cy="1783080"/>
          </a:xfrm>
          <a:prstGeom prst="rect">
            <a:avLst/>
          </a:prstGeom>
          <a:solidFill>
            <a:srgbClr val="0D2B55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812280" y="4846320"/>
            <a:ext cx="20574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858000" y="485546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Infra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6876288" y="51663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(Memory Changes)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Cloud + On-device TTS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132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Prototype Development &amp; Implementation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modules, demo scenarios &amp; challenges overcome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6002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60020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3192" y="16550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Voice Input Pipeline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20391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→ transcript + confidence score. Fallback confirmation prompts on low confidence. Tested with accented Tamil-English speech.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16002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160020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27832" y="16550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Repetition Detector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246120" y="20391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Sentence-embedding similarity + counter. Flags repeated-question loops within a session. Triggers strategy switch after threshold.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16002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160020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62472" y="165506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Policy Engine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80760" y="203911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state machine. 6 response modes: Reassure, Validate, Orient, Reminisce, Redirect, Escalate. Stage-locked communication rules.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34747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47472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93192" y="35295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Memory Architecture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39136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uploads verified facts (name, relationship, music, events). Vector search retrieves top-k facts. No LLM biography invention.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54680" y="34747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54680" y="347472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227832" y="35295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Distress Scorer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246120" y="39136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Green/Amber/Red model. Combines: repeat-count, text sentiment, hour-of-day, session length. Red → instant caregiver push alert.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89320" y="34747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89320" y="3474720"/>
            <a:ext cx="26974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62472" y="352958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Caregiver Dashboard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080760" y="39136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with reason + transcript snippet. Memory management (add/edit/delete facts). Role-based access (family vs professional carer).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20040" y="5394960"/>
            <a:ext cx="8503920" cy="1234440"/>
          </a:xfrm>
          <a:prstGeom prst="rect">
            <a:avLst/>
          </a:prstGeom>
          <a:solidFill>
            <a:srgbClr val="0D2B55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5440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5715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STT accuracy on elderly speech → Whisper large-v3 + confidence threshold + re-prompt fallback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5934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Detecting repetition vs. genuine new question → Embedding cosine similarity + 0.85 threshold tuning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153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LLM refusing guardrails → System-level policy injection + output validation layer before TTS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373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DPDP consent in prototype → Consent record table + "why stored" labels on every memory fact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132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GitHub, Testing &amp; Validation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quality, test coverage &amp; evaluation metrics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600200"/>
            <a:ext cx="40233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600200"/>
            <a:ext cx="402336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1618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 REPOSITORY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9933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231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[github.com/your-team/dementia-companion]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816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/backend         — FastAPI + Policy Engine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/frontend        — React Native (Patient UI)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       — React Web (Caregiver)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/ml              — Repetition + Distress Models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         — Vector DB + Consent Schema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           — Unit + Integration + Redteam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            — Architecture + API Reference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36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      — Setup + Demo Instructions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074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(Commit History):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312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[View commit history with per-member breakdown on GitHub]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623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Inline docstrings + API reference + Memory Schema README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989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Quality: Linted (Ruff) · Type-annotated · GitHub Actions CI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0" y="1600200"/>
            <a:ext cx="4251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1600200"/>
            <a:ext cx="4251960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663440" y="16184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 &amp; EVALUATION METRICS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63440" y="205740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19472" y="20116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Consistency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919472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same scenario — emotional &amp; factual consistency measured. Target: &lt;5% inappropriate variation.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265176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919472" y="26060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Biography Factuality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919472" y="28437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responses using only approved facts. Target: 100% verified-fact-only responses in pilot.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63440" y="324612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19472" y="32004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Accuracy (Red-team)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919472" y="343814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delusion-confirming outputs under adversarial probing. Target: 0% harmful confirmations.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63440" y="384048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919472" y="37947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Detection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19472" y="403250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/ Precision on labelled pilot set. Green/Amber/Red threshold calibration.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63440" y="443484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919472" y="438912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Latency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919472" y="462686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risk threshold crossing to caregiver push alert. Target: &lt;5 seconds.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663440" y="502920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919472" y="498348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Score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919472" y="52212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utterance length ≤12 words (Early stage). Speaking rate calibration. User correction rate.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63440" y="5623560"/>
            <a:ext cx="201168" cy="2011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919472" y="55778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Usefulness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919472" y="5815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reassurance interventions during 30-minute pilot session.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498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Impact, Future Scope &amp; Team Contribution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80160"/>
            <a:ext cx="2834640" cy="333756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1280160"/>
            <a:ext cx="2834640" cy="32918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 &amp; SCALABILITY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1691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could benefit globally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167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low/middle income countries — India-first design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" y="2642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6426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burden reduction potential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" y="3118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1181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Tamil, Hindi, English support in roadmap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" y="3593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DPDP-ready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5935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 2023 compliant architecture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2004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0690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hospital / senior care EMR systems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46120" y="1280160"/>
            <a:ext cx="2834640" cy="333756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46120" y="1280160"/>
            <a:ext cx="2834640" cy="329184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337560" y="1298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337560" y="16916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Clinician read-only view — longitudinal behaviour export to GP/neurologist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337560" y="2130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Vision-based emotion — facial expression analysis supplements voice signals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337560" y="25694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Personalised music therapy — curated playlists from patient era/genre preference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3337560" y="30083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Multilingual expansion — Tamil, Hindi, Malayalam voice models fine-tuned on elderly speech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337560" y="34472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Wearable integration — smartwatch heart rate + movement as additional distress signals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0" y="3886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Longitudinal AI staging — recommend stage review to caregiver over time (no auto-diagnosis)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337560" y="4325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Smart-home linking — routine reminders triggered by ambient sensor context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63640" y="1280160"/>
            <a:ext cx="2651760" cy="3337560"/>
          </a:xfrm>
          <a:prstGeom prst="rect">
            <a:avLst/>
          </a:prstGeom>
          <a:solidFill>
            <a:srgbClr val="0A162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63640" y="1280160"/>
            <a:ext cx="2651760" cy="32918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55080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SOCIAL &amp; INDUSTRY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3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35508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 for elderly population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2276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Relief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2532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emotional &amp; time burden on family caregivers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2862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355080" y="3118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Anvayaa-style India context + DPDP compliance built-in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55080" y="3447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3550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Clinically-grounded, not a generic chatbot wrapper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355080" y="4032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B2C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355080" y="4288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care homes, hospitals, families, NGOs as channels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4709160"/>
            <a:ext cx="8686800" cy="1371600"/>
          </a:xfrm>
          <a:prstGeom prst="rect">
            <a:avLst/>
          </a:prstGeom>
          <a:solidFill>
            <a:srgbClr val="2E5F8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CONTRIBUTIONS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365760" y="50474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— Project Lead: Policy Engine design, system architecture, LLM prompt engineering, integration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365760" y="5285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 — Frontend: React Native patient UI, caregiver dashboard React web, UX flow, accessibility design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365760" y="5522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 — ML: Repetition detector, distress risk scorer, prosody feature extraction, model evaluation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365760" y="5760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 — Backend + Data: FastAPI, vector DB schema, memory architecture, DPDP consent system, DevOps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274320" y="62453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Demo Link: [your-demo-link]  ·  GitHub: [github.com/your-repo]  ·  Saveetha Engineering College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MEGATHON'26  |  Fusion for Future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097280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7498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Demo Screenshots &amp; Live Demo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8503920" cy="228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0" name="Shape DemoCard"/>
          <p:cNvSpPr/>
          <p:nvPr/>
        </p:nvSpPr>
        <p:spPr>
          <a:xfrm>
            <a:off x="320040" y="1310000"/>
            <a:ext cx="8503920" cy="70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1" name="Text DemoLink"/>
          <p:cNvSpPr txBox="1"/>
          <p:nvPr/>
        </p:nvSpPr>
        <p:spPr>
          <a:xfrm>
            <a:off x="320040" y="1310000"/>
            <a:ext cx="85039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[your-demo-link]</a:t>
            </a:r>
            <a:endParaRPr lang="en-US" sz="1600" dirty="0"/>
          </a:p>
        </p:txBody>
      </p:sp>
      <p:sp>
        <p:nvSpPr>
          <p:cNvPr id="62" name="Shape WalkthroughBar"/>
          <p:cNvSpPr/>
          <p:nvPr/>
        </p:nvSpPr>
        <p:spPr>
          <a:xfrm>
            <a:off x="320040" y="2192020"/>
            <a:ext cx="8503920" cy="32918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3" name="Text WalkthroughLabel"/>
          <p:cNvSpPr txBox="1"/>
          <p:nvPr/>
        </p:nvSpPr>
        <p:spPr>
          <a:xfrm>
            <a:off x="411480" y="2192020"/>
            <a:ext cx="80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WALKTHROUGH — LIVE SCREENSHOTS</a:t>
            </a:r>
            <a:endParaRPr lang="en-US" sz="1200" dirty="0"/>
          </a:p>
        </p:txBody>
      </p:sp>
      <p:sp>
        <p:nvSpPr>
          <p:cNvPr id="64" name="Shape Frame0"/>
          <p:cNvSpPr/>
          <p:nvPr/>
        </p:nvSpPr>
        <p:spPr>
          <a:xfrm>
            <a:off x="1399500" y="2650000"/>
            <a:ext cx="1443750" cy="306000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pic>
        <p:nvPicPr>
          <p:cNvPr id="65" name="Image Shot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9500" y="2680000"/>
            <a:ext cx="1383750" cy="3000000"/>
          </a:xfrm>
          <a:prstGeom prst="rect">
            <a:avLst/>
          </a:prstGeom>
        </p:spPr>
      </p:pic>
      <p:sp>
        <p:nvSpPr>
          <p:cNvPr id="66" name="Text Caption0"/>
          <p:cNvSpPr txBox="1"/>
          <p:nvPr/>
        </p:nvSpPr>
        <p:spPr>
          <a:xfrm>
            <a:off x="1399500" y="5740000"/>
            <a:ext cx="144375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Sign-In</a:t>
            </a:r>
            <a:endParaRPr lang="en-US" sz="950" dirty="0"/>
          </a:p>
        </p:txBody>
      </p:sp>
      <p:sp>
        <p:nvSpPr>
          <p:cNvPr id="67" name="Shape Frame1"/>
          <p:cNvSpPr/>
          <p:nvPr/>
        </p:nvSpPr>
        <p:spPr>
          <a:xfrm>
            <a:off x="3033250" y="2650000"/>
            <a:ext cx="1443750" cy="306000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pic>
        <p:nvPicPr>
          <p:cNvPr id="68" name="Image Shot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3250" y="2680000"/>
            <a:ext cx="1383750" cy="3000000"/>
          </a:xfrm>
          <a:prstGeom prst="rect">
            <a:avLst/>
          </a:prstGeom>
        </p:spPr>
      </p:pic>
      <p:sp>
        <p:nvSpPr>
          <p:cNvPr id="69" name="Text Caption1"/>
          <p:cNvSpPr txBox="1"/>
          <p:nvPr/>
        </p:nvSpPr>
        <p:spPr>
          <a:xfrm>
            <a:off x="3033250" y="5740000"/>
            <a:ext cx="144375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Circle Setup</a:t>
            </a:r>
            <a:endParaRPr lang="en-US" sz="950" dirty="0"/>
          </a:p>
        </p:txBody>
      </p:sp>
      <p:sp>
        <p:nvSpPr>
          <p:cNvPr id="70" name="Shape Frame2"/>
          <p:cNvSpPr/>
          <p:nvPr/>
        </p:nvSpPr>
        <p:spPr>
          <a:xfrm>
            <a:off x="4667000" y="2650000"/>
            <a:ext cx="1443750" cy="306000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pic>
        <p:nvPicPr>
          <p:cNvPr id="71" name="Image Shot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7000" y="2680000"/>
            <a:ext cx="1383750" cy="3000000"/>
          </a:xfrm>
          <a:prstGeom prst="rect">
            <a:avLst/>
          </a:prstGeom>
        </p:spPr>
      </p:pic>
      <p:sp>
        <p:nvSpPr>
          <p:cNvPr id="72" name="Text Caption2"/>
          <p:cNvSpPr txBox="1"/>
          <p:nvPr/>
        </p:nvSpPr>
        <p:spPr>
          <a:xfrm>
            <a:off x="4667000" y="5740000"/>
            <a:ext cx="144375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DPDP-Aligned Consent</a:t>
            </a:r>
            <a:endParaRPr lang="en-US" sz="950" dirty="0"/>
          </a:p>
        </p:txBody>
      </p:sp>
      <p:sp>
        <p:nvSpPr>
          <p:cNvPr id="73" name="Shape Frame3"/>
          <p:cNvSpPr/>
          <p:nvPr/>
        </p:nvSpPr>
        <p:spPr>
          <a:xfrm>
            <a:off x="6300750" y="2650000"/>
            <a:ext cx="1443750" cy="3060000"/>
          </a:xfrm>
          <a:prstGeom prst="rect">
            <a:avLst/>
          </a:prstGeom>
          <a:solidFill>
            <a:srgbClr val="0A1628"/>
          </a:solidFill>
          <a:ln w="6350">
            <a:solidFill>
              <a:srgbClr val="1B6CA8"/>
            </a:solidFill>
            <a:prstDash val="solid"/>
          </a:ln>
        </p:spPr>
      </p:sp>
      <p:pic>
        <p:nvPicPr>
          <p:cNvPr id="74" name="Image Shot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0750" y="2680000"/>
            <a:ext cx="1383750" cy="3000000"/>
          </a:xfrm>
          <a:prstGeom prst="rect">
            <a:avLst/>
          </a:prstGeom>
        </p:spPr>
      </p:pic>
      <p:sp>
        <p:nvSpPr>
          <p:cNvPr id="75" name="Text Caption3"/>
          <p:cNvSpPr txBox="1"/>
          <p:nvPr/>
        </p:nvSpPr>
        <p:spPr>
          <a:xfrm>
            <a:off x="6300750" y="5740000"/>
            <a:ext cx="144375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Support-Level Tuning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274320" y="62453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Demo Link: [your-demo-link]  ·  GitHub: [github.com/your-repo]  ·  Saveetha Engineering College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0" y="6583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2026-09-11T02:52:49Z</dcterms:created>
  <dcterms:modified xsi:type="dcterms:W3CDTF">2026-09-11T02:52:49Z</dcterms:modified>
</cp:coreProperties>
</file>